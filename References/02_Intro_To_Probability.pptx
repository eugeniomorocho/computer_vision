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3" r:id="rId16"/>
    <p:sldId id="354" r:id="rId17"/>
    <p:sldId id="351" r:id="rId18"/>
    <p:sldId id="359" r:id="rId19"/>
    <p:sldId id="352" r:id="rId20"/>
    <p:sldId id="355" r:id="rId21"/>
    <p:sldId id="356" r:id="rId22"/>
    <p:sldId id="357" r:id="rId23"/>
    <p:sldId id="358" r:id="rId24"/>
    <p:sldId id="360" r:id="rId25"/>
    <p:sldId id="361" r:id="rId26"/>
    <p:sldId id="362" r:id="rId27"/>
    <p:sldId id="291" r:id="rId28"/>
  </p:sldIdLst>
  <p:sldSz cx="9144000" cy="6858000" type="screen4x3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9E9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164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4CDAC-ACD1-4943-9118-05D26BC373AD}" type="datetimeFigureOut">
              <a:rPr lang="en-CA" smtClean="0"/>
              <a:pPr/>
              <a:t>09/10/2011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6EB27-61DC-41F3-9EAF-0FE44ABD7553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277B3-A994-49DF-A53F-7FC77A8B7443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D3A0-7500-4968-9241-392FE010D33B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E9B63-D6FB-469B-9450-2D1C8B32E384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35C3-4C7E-4CBB-B4CD-0BEC0E5E3741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0421-A1EB-4633-8CE5-90973653AF94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525DB-2019-4632-8C0A-6E4995E5149C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9B2C-431C-4CCD-BFDD-189CF353999F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85B9-749B-4E4C-A95F-AE6044FE9757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657A-EF48-41A3-91A1-6A555F4FA245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23E8B-C05F-4B82-AA83-B8DEC7D9A80B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6AB48-3A78-4F92-918C-3EF755977BAB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BF460-3ECD-417A-ACDC-6D120A1AC9B0}" type="datetime1">
              <a:rPr lang="en-CA" smtClean="0"/>
              <a:pPr/>
              <a:t>09/10/2011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77090-F112-494C-B26D-10BF7AE7F6F1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Computer vision: models, learning and inference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Chapter </a:t>
            </a:r>
            <a:r>
              <a:rPr lang="en-CA" dirty="0" smtClean="0"/>
              <a:t>2 </a:t>
            </a:r>
            <a:endParaRPr lang="en-CA" dirty="0" smtClean="0"/>
          </a:p>
          <a:p>
            <a:r>
              <a:rPr lang="en-CA" dirty="0" smtClean="0"/>
              <a:t>Introduction to probability</a:t>
            </a:r>
            <a:endParaRPr lang="en-CA" dirty="0"/>
          </a:p>
        </p:txBody>
      </p:sp>
      <p:sp>
        <p:nvSpPr>
          <p:cNvPr id="4" name="TextBox 3"/>
          <p:cNvSpPr txBox="1"/>
          <p:nvPr/>
        </p:nvSpPr>
        <p:spPr>
          <a:xfrm>
            <a:off x="1619672" y="6093296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/>
              <a:t>Please send errata to s.prince@cs.ucl.ac.uk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Random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A random variable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800" dirty="0" smtClean="0"/>
              <a:t> denotes a quantity that is uncertain</a:t>
            </a:r>
          </a:p>
          <a:p>
            <a:r>
              <a:rPr lang="en-GB" sz="2800" dirty="0" smtClean="0"/>
              <a:t>May be result of experiment (flipping a coin) or a real world measurements (measuring temperature)</a:t>
            </a:r>
          </a:p>
          <a:p>
            <a:r>
              <a:rPr lang="en-GB" sz="2800" dirty="0" smtClean="0"/>
              <a:t>If observe several instances of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800" dirty="0" smtClean="0"/>
              <a:t> we get different values</a:t>
            </a:r>
          </a:p>
          <a:p>
            <a:r>
              <a:rPr lang="en-GB" sz="2800" dirty="0" smtClean="0"/>
              <a:t>Some values occur more than others and this information is captured by a probability distribution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Discrete Random Variables</a:t>
            </a:r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3</a:t>
            </a:fld>
            <a:endParaRPr lang="en-C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543740"/>
            <a:ext cx="4896544" cy="2389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38816" y="4147516"/>
            <a:ext cx="4709448" cy="194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Continuous Random Variable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44824"/>
            <a:ext cx="7488832" cy="392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Joint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Consider two random variables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800" dirty="0" smtClean="0"/>
              <a:t> and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r>
              <a:rPr lang="en-GB" sz="2800" dirty="0" smtClean="0"/>
              <a:t>If we observe multiple paired instances, then some combinations of outcomes are more likely than others</a:t>
            </a:r>
          </a:p>
          <a:p>
            <a:r>
              <a:rPr lang="en-GB" sz="2800" dirty="0" smtClean="0"/>
              <a:t>This is captured in the joint probability distribution</a:t>
            </a:r>
          </a:p>
          <a:p>
            <a:r>
              <a:rPr lang="en-GB" sz="2800" dirty="0" smtClean="0"/>
              <a:t>Written as Pr(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800" dirty="0" err="1" smtClean="0"/>
              <a:t>,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800" dirty="0" smtClean="0"/>
              <a:t>)</a:t>
            </a:r>
          </a:p>
          <a:p>
            <a:r>
              <a:rPr lang="en-GB" sz="2800" dirty="0" smtClean="0"/>
              <a:t>Can read Pr(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800" dirty="0" err="1" smtClean="0"/>
              <a:t>,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800" dirty="0" smtClean="0"/>
              <a:t>) as “probability of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800" dirty="0" smtClean="0"/>
              <a:t> and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800" dirty="0" smtClean="0"/>
              <a:t>”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GB" dirty="0" smtClean="0"/>
              <a:t>Joint Probability</a:t>
            </a:r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5408" y="1159280"/>
            <a:ext cx="7573016" cy="4934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Marginalization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000" dirty="0" smtClean="0"/>
              <a:t>We can recover probability distribution of any variable in a joint distribution by integrating (or summing) over the other variables</a:t>
            </a:r>
            <a:endParaRPr lang="en-GB" sz="2000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7</a:t>
            </a:fld>
            <a:endParaRPr lang="en-CA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grpSp>
        <p:nvGrpSpPr>
          <p:cNvPr id="15" name="Group 14"/>
          <p:cNvGrpSpPr/>
          <p:nvPr/>
        </p:nvGrpSpPr>
        <p:grpSpPr>
          <a:xfrm>
            <a:off x="4427581" y="2060848"/>
            <a:ext cx="4320570" cy="4344888"/>
            <a:chOff x="4427581" y="2060848"/>
            <a:chExt cx="4320570" cy="4344888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427581" y="2060848"/>
              <a:ext cx="4320570" cy="4344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  <p:sp>
          <p:nvSpPr>
            <p:cNvPr id="14" name="Rectangle 13"/>
            <p:cNvSpPr/>
            <p:nvPr/>
          </p:nvSpPr>
          <p:spPr>
            <a:xfrm>
              <a:off x="4427984" y="206084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 r="6325"/>
          <a:stretch>
            <a:fillRect/>
          </a:stretch>
        </p:blipFill>
        <p:spPr bwMode="auto">
          <a:xfrm>
            <a:off x="323528" y="2636912"/>
            <a:ext cx="3989680" cy="18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Marginalization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000" dirty="0" smtClean="0"/>
              <a:t>We can recover probability distribution of any variable in a joint distribution by integrating (or summing) over the other variables</a:t>
            </a:r>
            <a:endParaRPr lang="en-GB" sz="2000" dirty="0"/>
          </a:p>
        </p:txBody>
      </p:sp>
      <p:sp>
        <p:nvSpPr>
          <p:cNvPr id="9" name="Rectangle 8"/>
          <p:cNvSpPr/>
          <p:nvPr/>
        </p:nvSpPr>
        <p:spPr>
          <a:xfrm>
            <a:off x="4499992" y="2204864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8</a:t>
            </a:fld>
            <a:endParaRPr lang="en-CA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grpSp>
        <p:nvGrpSpPr>
          <p:cNvPr id="12" name="Group 11"/>
          <p:cNvGrpSpPr/>
          <p:nvPr/>
        </p:nvGrpSpPr>
        <p:grpSpPr>
          <a:xfrm>
            <a:off x="4427984" y="2060848"/>
            <a:ext cx="4427984" cy="4283376"/>
            <a:chOff x="4427984" y="2060848"/>
            <a:chExt cx="4427984" cy="4283376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499992" y="2060848"/>
              <a:ext cx="4355976" cy="42833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tangle 10"/>
            <p:cNvSpPr/>
            <p:nvPr/>
          </p:nvSpPr>
          <p:spPr>
            <a:xfrm>
              <a:off x="4427984" y="2060848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636912"/>
            <a:ext cx="3818040" cy="1887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Marginalization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000" dirty="0" smtClean="0"/>
              <a:t>We can recover probability distribution of any variable in a joint distribution by integrating (or summing) over the other variables</a:t>
            </a:r>
            <a:endParaRPr lang="en-GB" sz="2000" dirty="0"/>
          </a:p>
        </p:txBody>
      </p:sp>
      <p:sp>
        <p:nvSpPr>
          <p:cNvPr id="9" name="Rectangle 8"/>
          <p:cNvSpPr/>
          <p:nvPr/>
        </p:nvSpPr>
        <p:spPr>
          <a:xfrm>
            <a:off x="4499992" y="2204864"/>
            <a:ext cx="50405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9</a:t>
            </a:fld>
            <a:endParaRPr lang="en-CA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grpSp>
        <p:nvGrpSpPr>
          <p:cNvPr id="13" name="Group 12"/>
          <p:cNvGrpSpPr/>
          <p:nvPr/>
        </p:nvGrpSpPr>
        <p:grpSpPr>
          <a:xfrm>
            <a:off x="4716016" y="2204864"/>
            <a:ext cx="4144516" cy="4159866"/>
            <a:chOff x="4716016" y="2204864"/>
            <a:chExt cx="4144516" cy="4159866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16016" y="2204864"/>
              <a:ext cx="4144516" cy="41598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Rectangle 11"/>
            <p:cNvSpPr/>
            <p:nvPr/>
          </p:nvSpPr>
          <p:spPr>
            <a:xfrm>
              <a:off x="4716016" y="2276872"/>
              <a:ext cx="504056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/>
          <a:srcRect t="53743" b="192"/>
          <a:stretch>
            <a:fillRect/>
          </a:stretch>
        </p:blipFill>
        <p:spPr bwMode="auto">
          <a:xfrm>
            <a:off x="395536" y="2780928"/>
            <a:ext cx="366002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 cstate="print"/>
          <a:srcRect t="50876" r="6325"/>
          <a:stretch>
            <a:fillRect/>
          </a:stretch>
        </p:blipFill>
        <p:spPr bwMode="auto">
          <a:xfrm>
            <a:off x="323528" y="3573016"/>
            <a:ext cx="3989680" cy="903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Marginalization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000" dirty="0" smtClean="0"/>
              <a:t>We can recover probability distribution of any variable in a joint distribution by integrating (or summing) over the other variables</a:t>
            </a:r>
            <a:endParaRPr lang="en-GB" sz="2000" dirty="0"/>
          </a:p>
        </p:txBody>
      </p:sp>
      <p:sp>
        <p:nvSpPr>
          <p:cNvPr id="9" name="Rectangle 8"/>
          <p:cNvSpPr/>
          <p:nvPr/>
        </p:nvSpPr>
        <p:spPr>
          <a:xfrm>
            <a:off x="467544" y="4581128"/>
            <a:ext cx="7848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 smtClean="0"/>
              <a:t>Works in higher dimensions as well – leaves joint distribution between whatever variables are left</a:t>
            </a:r>
            <a:endParaRPr lang="en-GB" sz="2000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10</a:t>
            </a:fld>
            <a:endParaRPr lang="en-CA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/>
          <a:srcRect r="6325"/>
          <a:stretch>
            <a:fillRect/>
          </a:stretch>
        </p:blipFill>
        <p:spPr bwMode="auto">
          <a:xfrm>
            <a:off x="611560" y="2492896"/>
            <a:ext cx="3989680" cy="18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5110" y="5301208"/>
            <a:ext cx="5275162" cy="115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Conditional Probability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Conditional probability of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smtClean="0"/>
              <a:t> given that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dirty="0" smtClean="0"/>
              <a:t>=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2400" dirty="0" smtClean="0"/>
              <a:t> is relative propensity of variable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smtClean="0"/>
              <a:t> to take different outcomes given that y is fixed to be equal to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2400" dirty="0" smtClean="0"/>
              <a:t>.</a:t>
            </a:r>
          </a:p>
          <a:p>
            <a:endParaRPr lang="en-GB" sz="500" dirty="0" smtClean="0"/>
          </a:p>
          <a:p>
            <a:r>
              <a:rPr lang="en-GB" sz="2400" dirty="0" smtClean="0"/>
              <a:t>Written as Pr(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err="1" smtClean="0"/>
              <a:t>|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dirty="0" smtClean="0"/>
              <a:t>=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2400" dirty="0" smtClean="0"/>
              <a:t>)</a:t>
            </a:r>
          </a:p>
          <a:p>
            <a:endParaRPr lang="en-GB" sz="24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11</a:t>
            </a:fld>
            <a:endParaRPr lang="en-CA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448251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3487717"/>
            <a:ext cx="5904656" cy="289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Conditional Probability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357298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Conditional probability can be extracted from joint probability</a:t>
            </a:r>
          </a:p>
          <a:p>
            <a:r>
              <a:rPr lang="en-GB" sz="2400" dirty="0" smtClean="0"/>
              <a:t>Extract appropriate slice and normalize</a:t>
            </a:r>
            <a:endParaRPr lang="en-GB" sz="2400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12</a:t>
            </a:fld>
            <a:endParaRPr lang="en-CA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420888"/>
            <a:ext cx="7972324" cy="995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3487717"/>
            <a:ext cx="5904656" cy="289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Conditional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500307"/>
            <a:ext cx="8229600" cy="642942"/>
          </a:xfrm>
        </p:spPr>
        <p:txBody>
          <a:bodyPr/>
          <a:lstStyle/>
          <a:p>
            <a:r>
              <a:rPr lang="en-GB" dirty="0" smtClean="0"/>
              <a:t>More usually written in compact form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00034" y="4214818"/>
            <a:ext cx="8229600" cy="2428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 be re-arranged</a:t>
            </a:r>
            <a:r>
              <a:rPr kumimoji="0" lang="en-GB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give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GB" sz="3200" baseline="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13</a:t>
            </a:fld>
            <a:endParaRPr lang="en-CA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7972324" cy="995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3068960"/>
            <a:ext cx="2880320" cy="1090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4869160"/>
            <a:ext cx="3744416" cy="494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99792" y="5445224"/>
            <a:ext cx="3707270" cy="531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Conditional Probability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3561259"/>
          </a:xfrm>
        </p:spPr>
        <p:txBody>
          <a:bodyPr/>
          <a:lstStyle/>
          <a:p>
            <a:r>
              <a:rPr lang="en-CA" dirty="0" smtClean="0"/>
              <a:t>This idea can be extended to more than two variables</a:t>
            </a:r>
            <a:endParaRPr lang="en-CA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14</a:t>
            </a:fld>
            <a:endParaRPr lang="en-CA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772816"/>
            <a:ext cx="3744416" cy="494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005064"/>
            <a:ext cx="7874023" cy="1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Bayes</a:t>
            </a:r>
            <a:r>
              <a:rPr lang="en-GB" dirty="0" smtClean="0"/>
              <a:t>’ Rule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8596" y="1285860"/>
            <a:ext cx="20758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From before: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500034" y="2571744"/>
            <a:ext cx="1846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Combining: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500034" y="3786190"/>
            <a:ext cx="2141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Re-arranging:</a:t>
            </a:r>
            <a:endParaRPr lang="en-US" sz="2800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15</a:t>
            </a:fld>
            <a:endParaRPr lang="en-CA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3140968"/>
            <a:ext cx="4896542" cy="532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1556792"/>
            <a:ext cx="3744416" cy="494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53319" y="2132856"/>
            <a:ext cx="3707270" cy="531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99792" y="3933056"/>
            <a:ext cx="4254310" cy="247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Bayes</a:t>
            </a:r>
            <a:r>
              <a:rPr lang="en-GB" dirty="0" smtClean="0"/>
              <a:t>’ Rule Terminology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5720" y="5357826"/>
            <a:ext cx="3214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Posterior </a:t>
            </a:r>
            <a:r>
              <a:rPr lang="en-GB" sz="2400" dirty="0" smtClean="0"/>
              <a:t>– what we know about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dirty="0" smtClean="0"/>
              <a:t> after seeing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57818" y="1500174"/>
            <a:ext cx="3214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Prior </a:t>
            </a:r>
            <a:r>
              <a:rPr lang="en-GB" sz="2400" dirty="0" smtClean="0"/>
              <a:t>– what we know about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dirty="0" smtClean="0"/>
              <a:t> before seeing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0100" y="1500174"/>
            <a:ext cx="3714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Likelihood </a:t>
            </a:r>
            <a:r>
              <a:rPr lang="en-GB" sz="2400" dirty="0" smtClean="0"/>
              <a:t>– propensity for observing a certain value of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smtClean="0"/>
              <a:t> given a certain value of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57752" y="5214950"/>
            <a:ext cx="3643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Evidence </a:t>
            </a:r>
            <a:r>
              <a:rPr lang="en-GB" sz="2400" dirty="0" smtClean="0"/>
              <a:t>–a constant to ensure that the left hand side is a valid distribution</a:t>
            </a:r>
            <a:endParaRPr lang="en-US" sz="2400" dirty="0"/>
          </a:p>
        </p:txBody>
      </p:sp>
      <p:cxnSp>
        <p:nvCxnSpPr>
          <p:cNvPr id="16" name="Straight Arrow Connector 15"/>
          <p:cNvCxnSpPr>
            <a:stCxn id="12" idx="2"/>
          </p:cNvCxnSpPr>
          <p:nvPr/>
        </p:nvCxnSpPr>
        <p:spPr>
          <a:xfrm rot="16200000" flipH="1">
            <a:off x="6719862" y="2576465"/>
            <a:ext cx="740639" cy="25004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2"/>
          </p:cNvCxnSpPr>
          <p:nvPr/>
        </p:nvCxnSpPr>
        <p:spPr>
          <a:xfrm rot="16200000" flipH="1">
            <a:off x="3413525" y="2144465"/>
            <a:ext cx="442745" cy="155481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0"/>
          </p:cNvCxnSpPr>
          <p:nvPr/>
        </p:nvCxnSpPr>
        <p:spPr>
          <a:xfrm rot="5400000" flipH="1" flipV="1">
            <a:off x="1482299" y="4768454"/>
            <a:ext cx="1000132" cy="17861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4" idx="0"/>
          </p:cNvCxnSpPr>
          <p:nvPr/>
        </p:nvCxnSpPr>
        <p:spPr>
          <a:xfrm rot="16200000" flipV="1">
            <a:off x="6340091" y="4875619"/>
            <a:ext cx="571504" cy="10715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16</a:t>
            </a:fld>
            <a:endParaRPr lang="en-CA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 cstate="print"/>
          <a:srcRect t="7217" r="71615" b="71132"/>
          <a:stretch>
            <a:fillRect/>
          </a:stretch>
        </p:blipFill>
        <p:spPr bwMode="auto">
          <a:xfrm>
            <a:off x="1043608" y="3501008"/>
            <a:ext cx="1944216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2" cstate="print"/>
          <a:srcRect l="28262" t="66547"/>
          <a:stretch>
            <a:fillRect/>
          </a:stretch>
        </p:blipFill>
        <p:spPr bwMode="auto">
          <a:xfrm>
            <a:off x="2915816" y="3284984"/>
            <a:ext cx="4913687" cy="133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Independence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If two variables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smtClean="0"/>
              <a:t> and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dirty="0" smtClean="0"/>
              <a:t> are independent then variable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smtClean="0"/>
              <a:t> tells us nothing about variable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dirty="0" smtClean="0"/>
              <a:t> (and vice-versa)</a:t>
            </a:r>
            <a:endParaRPr lang="en-GB" sz="24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17</a:t>
            </a:fld>
            <a:endParaRPr lang="en-CA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grpSp>
        <p:nvGrpSpPr>
          <p:cNvPr id="10" name="Group 9"/>
          <p:cNvGrpSpPr/>
          <p:nvPr/>
        </p:nvGrpSpPr>
        <p:grpSpPr>
          <a:xfrm>
            <a:off x="1809474" y="3429000"/>
            <a:ext cx="5514386" cy="3033342"/>
            <a:chOff x="1809474" y="3429000"/>
            <a:chExt cx="5514386" cy="3033342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09474" y="3429000"/>
              <a:ext cx="5514386" cy="3033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ectangle 8"/>
            <p:cNvSpPr/>
            <p:nvPr/>
          </p:nvSpPr>
          <p:spPr>
            <a:xfrm>
              <a:off x="1835696" y="3429000"/>
              <a:ext cx="2880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2276872"/>
            <a:ext cx="3312368" cy="1099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Independence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If two variables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smtClean="0"/>
              <a:t> and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dirty="0" smtClean="0"/>
              <a:t> are independent then variable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GB" sz="2400" dirty="0" smtClean="0"/>
              <a:t> tells us nothing about variable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GB" sz="2400" dirty="0" smtClean="0"/>
              <a:t> (and vice-versa)</a:t>
            </a:r>
            <a:endParaRPr lang="en-GB" sz="24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18</a:t>
            </a:fld>
            <a:endParaRPr lang="en-CA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276872"/>
            <a:ext cx="3312368" cy="1099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2339752" y="3429000"/>
            <a:ext cx="3816424" cy="2931708"/>
            <a:chOff x="2339752" y="3429000"/>
            <a:chExt cx="3816424" cy="2931708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11760" y="3429000"/>
              <a:ext cx="3744416" cy="29317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tangle 10"/>
            <p:cNvSpPr/>
            <p:nvPr/>
          </p:nvSpPr>
          <p:spPr>
            <a:xfrm>
              <a:off x="2339752" y="3429000"/>
              <a:ext cx="2880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 r="35993"/>
          <a:stretch>
            <a:fillRect/>
          </a:stretch>
        </p:blipFill>
        <p:spPr bwMode="auto">
          <a:xfrm>
            <a:off x="2626112" y="2108722"/>
            <a:ext cx="3819768" cy="6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Independence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When variables are independent, the joint factorizes into a product of the </a:t>
            </a:r>
            <a:r>
              <a:rPr lang="en-GB" sz="2400" dirty="0" err="1" smtClean="0"/>
              <a:t>marginals</a:t>
            </a:r>
            <a:r>
              <a:rPr lang="en-GB" sz="2400" dirty="0" smtClean="0"/>
              <a:t>:</a:t>
            </a:r>
            <a:endParaRPr lang="en-GB" sz="24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19</a:t>
            </a:fld>
            <a:endParaRPr lang="en-CA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/>
          <a:srcRect l="62958"/>
          <a:stretch>
            <a:fillRect/>
          </a:stretch>
        </p:blipFill>
        <p:spPr bwMode="auto">
          <a:xfrm>
            <a:off x="3873624" y="2718404"/>
            <a:ext cx="2210544" cy="6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10"/>
          <p:cNvGrpSpPr/>
          <p:nvPr/>
        </p:nvGrpSpPr>
        <p:grpSpPr>
          <a:xfrm>
            <a:off x="2339752" y="3429000"/>
            <a:ext cx="3816424" cy="2931708"/>
            <a:chOff x="2339752" y="3429000"/>
            <a:chExt cx="3816424" cy="2931708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11760" y="3429000"/>
              <a:ext cx="3744416" cy="29317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2339752" y="3429000"/>
              <a:ext cx="288032" cy="5040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Expectation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1484784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Expectation tell us the expected or average value of some function </a:t>
            </a:r>
            <a:r>
              <a:rPr lang="en-CA" sz="2400" dirty="0" smtClean="0">
                <a:latin typeface="Times New Roman" pitchFamily="18" charset="0"/>
                <a:cs typeface="Times New Roman" pitchFamily="18" charset="0"/>
              </a:rPr>
              <a:t>f [x] </a:t>
            </a:r>
            <a:r>
              <a:rPr lang="en-CA" sz="2400" dirty="0" smtClean="0"/>
              <a:t>taking into account the distribution of </a:t>
            </a:r>
            <a:r>
              <a:rPr lang="en-CA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sz="2400" dirty="0" smtClean="0"/>
              <a:t> </a:t>
            </a:r>
            <a:endParaRPr lang="en-CA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83568" y="2679303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Definition:</a:t>
            </a:r>
            <a:endParaRPr lang="en-CA" sz="2400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20</a:t>
            </a:fld>
            <a:endParaRPr lang="en-CA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3406" y="3284984"/>
            <a:ext cx="5656906" cy="2351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Expectation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1484784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Expectation tell us the expected or average value of some function </a:t>
            </a:r>
            <a:r>
              <a:rPr lang="en-CA" sz="2400" dirty="0" smtClean="0">
                <a:latin typeface="Times New Roman" pitchFamily="18" charset="0"/>
                <a:cs typeface="Times New Roman" pitchFamily="18" charset="0"/>
              </a:rPr>
              <a:t>f [x]</a:t>
            </a:r>
            <a:r>
              <a:rPr lang="en-CA" sz="2400" dirty="0" smtClean="0"/>
              <a:t> taking into account the distribution of </a:t>
            </a:r>
            <a:r>
              <a:rPr lang="en-CA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sz="2400" dirty="0" smtClean="0"/>
              <a:t> </a:t>
            </a:r>
            <a:endParaRPr lang="en-CA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83568" y="2679303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Definition in two dimensions:</a:t>
            </a:r>
            <a:endParaRPr lang="en-CA" sz="2400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21</a:t>
            </a:fld>
            <a:endParaRPr lang="en-CA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501008"/>
            <a:ext cx="7867650" cy="106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Expectation: Common Cases</a:t>
            </a:r>
            <a:endParaRPr lang="en-CA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22</a:t>
            </a:fld>
            <a:endParaRPr lang="en-CA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t="49006"/>
          <a:stretch>
            <a:fillRect/>
          </a:stretch>
        </p:blipFill>
        <p:spPr bwMode="auto">
          <a:xfrm>
            <a:off x="1619672" y="1556792"/>
            <a:ext cx="5656906" cy="119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389" y="2924944"/>
            <a:ext cx="7152011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Expectation:  Rules</a:t>
            </a:r>
            <a:endParaRPr lang="en-CA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t="56379"/>
          <a:stretch>
            <a:fillRect/>
          </a:stretch>
        </p:blipFill>
        <p:spPr bwMode="auto">
          <a:xfrm>
            <a:off x="971600" y="1700808"/>
            <a:ext cx="7219950" cy="122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11560" y="3068960"/>
            <a:ext cx="56449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 smtClean="0"/>
              <a:t>Rule 1:  </a:t>
            </a:r>
          </a:p>
          <a:p>
            <a:endParaRPr lang="en-CA" sz="2400" dirty="0" smtClean="0"/>
          </a:p>
          <a:p>
            <a:r>
              <a:rPr lang="en-CA" sz="2400" dirty="0" smtClean="0"/>
              <a:t>Expected value of a constant is the constant</a:t>
            </a:r>
            <a:endParaRPr lang="en-CA" sz="24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23</a:t>
            </a:fld>
            <a:endParaRPr lang="en-CA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5013176"/>
            <a:ext cx="2571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Expectation:  Rules</a:t>
            </a:r>
            <a:endParaRPr lang="en-CA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t="56379"/>
          <a:stretch>
            <a:fillRect/>
          </a:stretch>
        </p:blipFill>
        <p:spPr bwMode="auto">
          <a:xfrm>
            <a:off x="971600" y="1700808"/>
            <a:ext cx="7219950" cy="122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11561" y="3068960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Rule 2:</a:t>
            </a:r>
          </a:p>
          <a:p>
            <a:endParaRPr lang="en-CA" sz="2400" dirty="0" smtClean="0"/>
          </a:p>
          <a:p>
            <a:r>
              <a:rPr lang="en-CA" sz="2400" dirty="0" smtClean="0"/>
              <a:t>Expected value of constant times function is constant times</a:t>
            </a:r>
            <a:r>
              <a:rPr lang="en-CA" sz="2400" dirty="0"/>
              <a:t> </a:t>
            </a:r>
            <a:r>
              <a:rPr lang="en-CA" sz="2400" dirty="0" smtClean="0"/>
              <a:t>expected value of function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24</a:t>
            </a:fld>
            <a:endParaRPr lang="en-CA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5157192"/>
            <a:ext cx="4248472" cy="769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Expectation:  Rules</a:t>
            </a:r>
            <a:endParaRPr lang="en-CA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t="56379"/>
          <a:stretch>
            <a:fillRect/>
          </a:stretch>
        </p:blipFill>
        <p:spPr bwMode="auto">
          <a:xfrm>
            <a:off x="971600" y="1700808"/>
            <a:ext cx="7219950" cy="122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11560" y="3068960"/>
            <a:ext cx="7776864" cy="1584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Rule 3:</a:t>
            </a:r>
          </a:p>
          <a:p>
            <a:endParaRPr lang="en-CA" sz="2400" dirty="0" smtClean="0"/>
          </a:p>
          <a:p>
            <a:r>
              <a:rPr lang="en-CA" sz="2400" dirty="0" smtClean="0"/>
              <a:t>Expectation of sum of functions is sum of expectation of functions</a:t>
            </a:r>
            <a:endParaRPr lang="en-CA" sz="24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25</a:t>
            </a:fld>
            <a:endParaRPr lang="en-CA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8161" y="5227616"/>
            <a:ext cx="5904160" cy="686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Expectation:  Rules</a:t>
            </a:r>
            <a:endParaRPr lang="en-CA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t="56379"/>
          <a:stretch>
            <a:fillRect/>
          </a:stretch>
        </p:blipFill>
        <p:spPr bwMode="auto">
          <a:xfrm>
            <a:off x="971600" y="1700808"/>
            <a:ext cx="7219950" cy="122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11560" y="3068960"/>
            <a:ext cx="82999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 smtClean="0"/>
              <a:t>Rule 4:  </a:t>
            </a:r>
          </a:p>
          <a:p>
            <a:endParaRPr lang="en-CA" sz="2400" dirty="0" smtClean="0"/>
          </a:p>
          <a:p>
            <a:r>
              <a:rPr lang="en-CA" sz="2400" dirty="0" smtClean="0"/>
              <a:t>Expectation of product of functions in variables </a:t>
            </a:r>
            <a:r>
              <a:rPr lang="en-CA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sz="2400" dirty="0" smtClean="0"/>
              <a:t> and </a:t>
            </a:r>
            <a:r>
              <a:rPr lang="en-CA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sz="2400" dirty="0" smtClean="0"/>
              <a:t> </a:t>
            </a:r>
          </a:p>
          <a:p>
            <a:r>
              <a:rPr lang="en-CA" sz="2400" dirty="0" smtClean="0"/>
              <a:t>is product of expectations of functions if </a:t>
            </a:r>
            <a:r>
              <a:rPr lang="en-CA" sz="2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CA" sz="2400" dirty="0" smtClean="0"/>
              <a:t> and </a:t>
            </a:r>
            <a:r>
              <a:rPr lang="en-CA" sz="2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CA" sz="2400" dirty="0" smtClean="0"/>
              <a:t> are independent</a:t>
            </a:r>
            <a:endParaRPr lang="en-CA" sz="240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5F77090-F112-494C-B26D-10BF7AE7F6F1}" type="slidenum">
              <a:rPr lang="en-CA" smtClean="0"/>
              <a:pPr/>
              <a:t>26</a:t>
            </a:fld>
            <a:endParaRPr lang="en-CA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5085184"/>
            <a:ext cx="7488832" cy="87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Conclusions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514350">
              <a:buNone/>
            </a:pPr>
            <a:endParaRPr lang="en-CA" dirty="0" smtClean="0"/>
          </a:p>
          <a:p>
            <a:pPr marL="914400" lvl="1" indent="-514350"/>
            <a:endParaRPr lang="en-CA" dirty="0" smtClean="0"/>
          </a:p>
          <a:p>
            <a:pPr marL="514350" indent="-514350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77090-F112-494C-B26D-10BF7AE7F6F1}" type="slidenum">
              <a:rPr lang="en-CA" smtClean="0"/>
              <a:pPr/>
              <a:t>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35696" y="6356350"/>
            <a:ext cx="5112568" cy="365125"/>
          </a:xfrm>
        </p:spPr>
        <p:txBody>
          <a:bodyPr/>
          <a:lstStyle/>
          <a:p>
            <a:r>
              <a:rPr lang="en-CA" dirty="0" smtClean="0"/>
              <a:t>Computer vision: models, learning and inference.  ©2011 Simon J.D. Prince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1700808"/>
            <a:ext cx="77768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CA" sz="2400" dirty="0" smtClean="0"/>
              <a:t>Rules of probability are compact and simple</a:t>
            </a:r>
          </a:p>
          <a:p>
            <a:pPr marL="342900" indent="-342900">
              <a:buFont typeface="Arial" pitchFamily="34" charset="0"/>
              <a:buChar char="•"/>
            </a:pPr>
            <a:endParaRPr lang="en-CA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CA" sz="2400" dirty="0" smtClean="0"/>
              <a:t>Concepts of marginalization, joint and conditional probability, </a:t>
            </a:r>
            <a:r>
              <a:rPr lang="en-CA" sz="2400" dirty="0" err="1" smtClean="0"/>
              <a:t>Bayes</a:t>
            </a:r>
            <a:r>
              <a:rPr lang="en-CA" sz="2400" dirty="0" smtClean="0"/>
              <a:t> rule and expectation underpin all of the models in this book</a:t>
            </a:r>
          </a:p>
          <a:p>
            <a:pPr marL="342900" indent="-342900">
              <a:buFont typeface="Arial" pitchFamily="34" charset="0"/>
              <a:buChar char="•"/>
            </a:pPr>
            <a:endParaRPr lang="en-CA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CA" sz="2400" dirty="0" smtClean="0"/>
              <a:t>One remaining concept – conditional expectation – discussed later</a:t>
            </a:r>
            <a:endParaRPr lang="en-CA" sz="2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SIMON@CLDYWINFUVWYY5L6" val="416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3731</TotalTime>
  <Words>1027</Words>
  <Application>Microsoft Office PowerPoint</Application>
  <PresentationFormat>On-screen Show (4:3)</PresentationFormat>
  <Paragraphs>137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Computer vision: models, learning and inference</vt:lpstr>
      <vt:lpstr>Random variables</vt:lpstr>
      <vt:lpstr>Discrete Random Variables</vt:lpstr>
      <vt:lpstr>Continuous Random Variable</vt:lpstr>
      <vt:lpstr>Joint Probability</vt:lpstr>
      <vt:lpstr>Joint Probability</vt:lpstr>
      <vt:lpstr>Marginalization</vt:lpstr>
      <vt:lpstr>Marginalization</vt:lpstr>
      <vt:lpstr>Marginalization</vt:lpstr>
      <vt:lpstr>Marginalization</vt:lpstr>
      <vt:lpstr>Conditional Probability</vt:lpstr>
      <vt:lpstr>Conditional Probability</vt:lpstr>
      <vt:lpstr>Conditional Probability</vt:lpstr>
      <vt:lpstr>Conditional Probability</vt:lpstr>
      <vt:lpstr>Bayes’ Rule</vt:lpstr>
      <vt:lpstr>Bayes’ Rule Terminology</vt:lpstr>
      <vt:lpstr>Independence</vt:lpstr>
      <vt:lpstr>Independence</vt:lpstr>
      <vt:lpstr>Independence</vt:lpstr>
      <vt:lpstr>Expectation</vt:lpstr>
      <vt:lpstr>Expectation</vt:lpstr>
      <vt:lpstr>Expectation: Common Cases</vt:lpstr>
      <vt:lpstr>Expectation:  Rules</vt:lpstr>
      <vt:lpstr>Expectation:  Rules</vt:lpstr>
      <vt:lpstr>Expectation:  Rules</vt:lpstr>
      <vt:lpstr>Expectation:  Rules</vt:lpstr>
      <vt:lpstr>Conclusions</vt:lpstr>
    </vt:vector>
  </TitlesOfParts>
  <Company>UCL Computer Science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vision: models, learning and inference</dc:title>
  <dc:creator>Simon</dc:creator>
  <cp:lastModifiedBy>Simon</cp:lastModifiedBy>
  <cp:revision>41</cp:revision>
  <dcterms:created xsi:type="dcterms:W3CDTF">2011-06-01T16:56:42Z</dcterms:created>
  <dcterms:modified xsi:type="dcterms:W3CDTF">2011-10-09T12:06:03Z</dcterms:modified>
</cp:coreProperties>
</file>